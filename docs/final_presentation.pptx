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6" r:id="rId1"/>
  </p:sldMasterIdLst>
  <p:notesMasterIdLst>
    <p:notesMasterId r:id="rId15"/>
  </p:notesMasterIdLst>
  <p:sldIdLst>
    <p:sldId id="256" r:id="rId2"/>
    <p:sldId id="257" r:id="rId3"/>
    <p:sldId id="268" r:id="rId4"/>
    <p:sldId id="269" r:id="rId5"/>
    <p:sldId id="259" r:id="rId6"/>
    <p:sldId id="267" r:id="rId7"/>
    <p:sldId id="261" r:id="rId8"/>
    <p:sldId id="270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25"/>
    <p:restoredTop sz="94658"/>
  </p:normalViewPr>
  <p:slideViewPr>
    <p:cSldViewPr snapToGrid="0" showGuides="1">
      <p:cViewPr varScale="1">
        <p:scale>
          <a:sx n="98" d="100"/>
          <a:sy n="98" d="100"/>
        </p:scale>
        <p:origin x="216" y="6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02D65-D86C-C845-B52D-B2952C166961}" type="datetimeFigureOut">
              <a:rPr lang="en-US" smtClean="0"/>
              <a:t>4/17/25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C40A70-518E-5446-BCEC-01668F022A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080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Support all model architectures</a:t>
            </a:r>
            <a:endParaRPr lang="en-US" dirty="0"/>
          </a:p>
          <a:p>
            <a:pPr>
              <a:buNone/>
            </a:pPr>
            <a:r>
              <a:rPr lang="en-US" dirty="0"/>
              <a:t>Extend masking logic beyond BERT to decoder-only (e.g., GPT) and encoder-decoder (e.g., T5) setups to cover both inference and generation paths.</a:t>
            </a:r>
          </a:p>
          <a:p>
            <a:pPr>
              <a:buNone/>
            </a:pPr>
            <a:r>
              <a:rPr lang="en-US" b="1" dirty="0"/>
              <a:t>Handle co-references and co-variates</a:t>
            </a:r>
            <a:endParaRPr lang="en-US" dirty="0"/>
          </a:p>
          <a:p>
            <a:pPr>
              <a:buNone/>
            </a:pPr>
            <a:r>
              <a:rPr lang="en-US" dirty="0"/>
              <a:t>Ensure masking tracks linked tokens like “she,” “his doctor,” or "the patient" to prevent indirect PII leakage.</a:t>
            </a:r>
          </a:p>
          <a:p>
            <a:pPr>
              <a:buNone/>
            </a:pPr>
            <a:r>
              <a:rPr lang="en-US" b="1" dirty="0"/>
              <a:t>Unify and expand dataset annotations</a:t>
            </a:r>
            <a:endParaRPr lang="en-US" dirty="0"/>
          </a:p>
          <a:p>
            <a:pPr>
              <a:buNone/>
            </a:pPr>
            <a:r>
              <a:rPr lang="en-US" dirty="0"/>
              <a:t>Combine DS-NER and PII </a:t>
            </a:r>
            <a:r>
              <a:rPr lang="en-US" dirty="0" err="1"/>
              <a:t>tagsets</a:t>
            </a:r>
            <a:r>
              <a:rPr lang="en-US" dirty="0"/>
              <a:t> across domains (medical, legal, finance) and simulate real-world entity distribution via controlled injection.</a:t>
            </a:r>
          </a:p>
          <a:p>
            <a:pPr>
              <a:buNone/>
            </a:pPr>
            <a:r>
              <a:rPr lang="en-US" b="1" dirty="0"/>
              <a:t>Explore advanced masking and redaction</a:t>
            </a:r>
            <a:endParaRPr lang="en-US" dirty="0"/>
          </a:p>
          <a:p>
            <a:pPr>
              <a:buNone/>
            </a:pPr>
            <a:r>
              <a:rPr lang="en-US" dirty="0"/>
              <a:t>Experiment with masking Keys vs. </a:t>
            </a:r>
            <a:r>
              <a:rPr lang="en-US" dirty="0" err="1"/>
              <a:t>Keys+Values</a:t>
            </a:r>
            <a:r>
              <a:rPr lang="en-US" dirty="0"/>
              <a:t>, and evaluate soft masking, DP-based noise, or output-time redaction for Phase II.</a:t>
            </a:r>
          </a:p>
          <a:p>
            <a:pPr>
              <a:buNone/>
            </a:pPr>
            <a:r>
              <a:rPr lang="en-US" b="1" dirty="0"/>
              <a:t>Evolve into a foundational PII layer</a:t>
            </a:r>
            <a:endParaRPr lang="en-US" dirty="0"/>
          </a:p>
          <a:p>
            <a:pPr>
              <a:buNone/>
            </a:pPr>
            <a:r>
              <a:rPr lang="en-US" dirty="0"/>
              <a:t>Turn this into a model-agnostic layer that any LLM can use to be “privacy aware” by default—Phase III of the project.</a:t>
            </a:r>
          </a:p>
          <a:p>
            <a:pPr>
              <a:buNone/>
            </a:pPr>
            <a:r>
              <a:rPr lang="en-US" b="1" dirty="0"/>
              <a:t>Build PII leakage benchmarks</a:t>
            </a:r>
            <a:endParaRPr lang="en-US" dirty="0"/>
          </a:p>
          <a:p>
            <a:pPr>
              <a:buNone/>
            </a:pPr>
            <a:r>
              <a:rPr lang="en-US" dirty="0"/>
              <a:t>Construct evaluation tasks that test how often models leak or infer private data when unfiltered vs. masked.</a:t>
            </a:r>
          </a:p>
          <a:p>
            <a:pPr>
              <a:buNone/>
            </a:pPr>
            <a:r>
              <a:rPr lang="en-US" b="1" dirty="0"/>
              <a:t>Visualize attention and masking</a:t>
            </a:r>
            <a:endParaRPr lang="en-US" dirty="0"/>
          </a:p>
          <a:p>
            <a:pPr>
              <a:buNone/>
            </a:pPr>
            <a:r>
              <a:rPr lang="en-US" dirty="0"/>
              <a:t>Use Q-K-V attention maps to show which tokens were suppressed or highlighted under the PII-aware flow.</a:t>
            </a:r>
          </a:p>
          <a:p>
            <a:pPr>
              <a:buNone/>
            </a:pPr>
            <a:r>
              <a:rPr lang="en-US" b="1" dirty="0"/>
              <a:t>Extend to tasks like relation/event detection</a:t>
            </a:r>
            <a:endParaRPr lang="en-US" dirty="0"/>
          </a:p>
          <a:p>
            <a:pPr>
              <a:buNone/>
            </a:pPr>
            <a:r>
              <a:rPr lang="en-US" dirty="0"/>
              <a:t>The masking method may also help in tasks where entity-level structure matters—who did what, when, and to whom.</a:t>
            </a:r>
          </a:p>
          <a:p>
            <a:pPr>
              <a:buNone/>
            </a:pPr>
            <a:r>
              <a:rPr lang="en-US" b="1" dirty="0"/>
              <a:t>Prototype real-world deployment use cases</a:t>
            </a:r>
            <a:endParaRPr lang="en-US" dirty="0"/>
          </a:p>
          <a:p>
            <a:r>
              <a:rPr lang="en-US" dirty="0"/>
              <a:t>Integrate into redaction-first pipelines for chatbots, summarization, or policy-aware text generation with transparency.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C40A70-518E-5446-BCEC-01668F022A5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010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C4797-9FB2-8211-EEA0-548517AAB4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631101-AB10-8C78-501C-B27088CB0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5388A-A46A-3379-F247-73E9112F5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1455F-96A1-5E41-9628-B84849A22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294025-E58D-92AE-8369-A656F465B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122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0950D-5975-2863-806A-5FF5083FC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A00DE-6B49-2E52-4F07-0D4E53454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44D724-ECE1-A4B8-B840-7C75F3876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A465F-940F-7257-0D47-249F1F37A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9817C-E946-41B5-DB75-CE331835B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064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260CC-4BA5-CC76-A1C4-C7EC8D4C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10508-A9A8-F7F8-F2BB-1DB38171C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36CE2-D082-C5E5-60D2-2126A559B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AEE5C4-C7BC-983C-57E2-E33C4DEE8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1DE-BAF8-8D28-1CCF-91C81031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13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2786D-2FD0-3C30-5F52-95A3006BD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22C07-C26E-E434-11FF-517213CEA5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BCFE1F-1418-FD18-8064-E25FD5C3A3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15C768-AA1A-A9A5-4397-2ACBFE636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E8F9C1-42B7-CC21-400C-F72461FE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9BB949-1EEB-7416-4553-B81249B5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4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C4BA3-754E-7F4E-BEB7-4393A6304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0C88B-4EE6-59E6-4876-9C9F16730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A25E2-0E46-34B7-A8A7-17DAB5122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A4DB2E-8A10-0BE8-B6B8-7A51FE4DD7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A07540-6DEF-10A5-D6F2-5E18F07EBB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B8A0BF-5FA4-6B4A-BFF2-3B3386FFE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79AEB8-5F4D-6828-6C33-6E6A171A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648013-EE54-6E7B-9538-1BE4DDDE8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9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E670B-3A2B-15C8-55D6-43802917F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F2E16-13A3-3760-3BBD-AC1D39705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D931D-19D6-4AD7-2423-690D49798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4652EB-50E5-9B66-E233-AAED9F66C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82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6C316-0486-2F4D-161C-97B3A4B9E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4279D9-9903-A5A0-8D8A-880AAC716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20C9D-CC74-7BB8-4D71-833D5CE7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4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9784C-E13C-40EC-1467-045146B84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E53EB-52C4-B694-D319-9E03635F0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4FC78A-7A5B-470C-BA0F-10670843B2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0593B8-9EC6-C85F-EED1-4E95FBB91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6417F-EE1C-75CF-02CB-75E7D72F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696B8-92F7-38EA-B556-47305E788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65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3ED10-CC96-437D-2D7A-952CCD2F4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C2D782-FB33-777C-B6A6-702A83DC66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FA013B-771F-C56D-A060-1BD0BA3001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3EC03-9C23-57F2-90C2-5418E023D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D3523-8B9A-C0E3-9C47-68FB0AC71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DEC0E3-E017-992A-4870-13E974940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81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5E634-23F9-6326-F08D-6BFB9B698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CDD76B-83A3-A800-177F-27845D53D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8BBEB0-4B48-6ECF-8690-590862FD2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6FF484-6E21-F63F-72D9-2FB47B534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5106D1-90AE-0A74-C42B-BB6FFF6C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14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2C23C0-3997-7DF9-D3EE-91AFC909F3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449F7E-A4B7-BA56-DAAE-BF35233608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3091B-20E1-435F-F80F-AB5B6C9EA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D744F-51E4-4A36-55BD-6458A9DE5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ACC19-736B-7EF6-B8DB-D08E6B483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5F78E6-A0D8-5224-44E3-4C759347C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26890-135B-1758-288E-745FA9BF4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5CBCD-B60A-1764-12AD-DF29C1DF69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811879-4DBD-4541-B573-AA32F9D80C25}" type="datetimeFigureOut">
              <a:rPr lang="en-US" smtClean="0"/>
              <a:t>4/11/25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87E4F-7719-6AF7-8316-FB21122E6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CB4810-F650-9537-AD61-5DDA0D71F7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BC6D8-0BF1-8F40-90DD-31802269CD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40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1BCB-E363-3774-8C2C-C94C478D44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Attention to Privacy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036D54-1D04-3063-D165-354F41DE2B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Attend NER elements to PII element in Input to</a:t>
            </a:r>
          </a:p>
          <a:p>
            <a:r>
              <a:rPr lang="en-US" dirty="0"/>
              <a:t>Detect privacy leakage</a:t>
            </a:r>
          </a:p>
          <a:p>
            <a:r>
              <a:rPr lang="en-US" dirty="0"/>
              <a:t>Pals </a:t>
            </a:r>
            <a:r>
              <a:rPr lang="en-US" dirty="0" err="1"/>
              <a:t>Chinnakanna</a:t>
            </a:r>
            <a:r>
              <a:rPr lang="en-US" dirty="0"/>
              <a:t>, David Erf</a:t>
            </a:r>
          </a:p>
        </p:txBody>
      </p:sp>
    </p:spTree>
    <p:extLst>
      <p:ext uri="{BB962C8B-B14F-4D97-AF65-F5344CB8AC3E}">
        <p14:creationId xmlns:p14="http://schemas.microsoft.com/office/powerpoint/2010/main" val="363032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BEBDC-D93B-AE6B-2268-7EDDA4804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D62E8-CDA5-1AE5-81B8-921A34660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LLMs are increasingly deployed across sensitive domains</a:t>
            </a:r>
            <a:r>
              <a:rPr lang="en-US" dirty="0"/>
              <a:t> like healthcare, law, and finance—with little built-in concern for privacy.</a:t>
            </a:r>
          </a:p>
          <a:p>
            <a:r>
              <a:rPr lang="en-US" dirty="0"/>
              <a:t>Existing systems </a:t>
            </a:r>
            <a:r>
              <a:rPr lang="en-US" b="1" dirty="0"/>
              <a:t>lack reliable, domain-aware privacy filters</a:t>
            </a:r>
            <a:r>
              <a:rPr lang="en-US" dirty="0"/>
              <a:t> to detect and prevent PII disclosure in model outputs.</a:t>
            </a:r>
          </a:p>
          <a:p>
            <a:r>
              <a:rPr lang="en-US" b="1" dirty="0"/>
              <a:t>LLMs can memorize and unintentionally leak training data</a:t>
            </a:r>
            <a:r>
              <a:rPr lang="en-US" dirty="0"/>
              <a:t>, including private or regulated information.</a:t>
            </a:r>
          </a:p>
          <a:p>
            <a:r>
              <a:rPr lang="en-US" dirty="0"/>
              <a:t>We need a </a:t>
            </a:r>
            <a:r>
              <a:rPr lang="en-US" b="1" dirty="0"/>
              <a:t>foundational privacy-aware layer</a:t>
            </a:r>
            <a:r>
              <a:rPr lang="en-US" dirty="0"/>
              <a:t> that can detect potential privacy violations and apply appropriate privacy protection mechanisms such as </a:t>
            </a:r>
            <a:r>
              <a:rPr lang="en-US" b="1" dirty="0"/>
              <a:t>redaction, masking, or differential privacy.</a:t>
            </a:r>
            <a:endParaRPr lang="en-US" u="sng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7704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735078B-E733-A414-CE05-01ACB3C62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Privacy Attention Mechanism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94284C-719F-1C2D-E197-15EEBD100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Consider this input to an LLM</a:t>
            </a:r>
            <a:r>
              <a:rPr lang="en-US" dirty="0"/>
              <a:t> —</a:t>
            </a:r>
          </a:p>
          <a:p>
            <a:r>
              <a:rPr lang="en-US" b="1" i="1" dirty="0"/>
              <a:t>Lionel Messi's</a:t>
            </a:r>
            <a:r>
              <a:rPr lang="en-US" i="1" dirty="0"/>
              <a:t> medical condition “torn ACL” were leaked by the clinic in </a:t>
            </a:r>
            <a:r>
              <a:rPr lang="en-US" b="1" i="1" dirty="0"/>
              <a:t>Barcelona</a:t>
            </a:r>
            <a:r>
              <a:rPr lang="en-US" i="1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1CA2F6D-A04F-20C9-87C8-141239F74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009256"/>
              </p:ext>
            </p:extLst>
          </p:nvPr>
        </p:nvGraphicFramePr>
        <p:xfrm>
          <a:off x="1734289" y="3466096"/>
          <a:ext cx="8127999" cy="30303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32799853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2633276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040855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Input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NER 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PII  Tag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428343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b="1" i="1" dirty="0"/>
                        <a:t>Lionel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B-PER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4039198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b="1" i="1" dirty="0"/>
                        <a:t>Messi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I-PER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184111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dirty="0"/>
                        <a:t>medical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B-Health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089264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I-Health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0130638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dirty="0"/>
                        <a:t>torn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B-Condition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3112969"/>
                  </a:ext>
                </a:extLst>
              </a:tr>
              <a:tr h="539307">
                <a:tc>
                  <a:txBody>
                    <a:bodyPr/>
                    <a:lstStyle/>
                    <a:p>
                      <a:r>
                        <a:rPr lang="en-US" dirty="0"/>
                        <a:t>ACL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I-Condition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633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892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EA379-31CB-4E6B-CF1B-5EFD013F8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0CEDC6-884B-B71B-808F-E9BFA49C4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Privacy Attention Mechanism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D60B91A-9C6F-C7F5-F044-A483FBD22E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dirty="0"/>
                  <a:t>				Attention =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𝑸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D60B91A-9C6F-C7F5-F044-A483FBD22E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704AF2B-84CF-769D-01BF-DEF733565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2532186"/>
              </p:ext>
            </p:extLst>
          </p:nvPr>
        </p:nvGraphicFramePr>
        <p:xfrm>
          <a:off x="1734289" y="3466096"/>
          <a:ext cx="8127999" cy="30303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32799853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2633276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040855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428343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b="1" i="1" dirty="0"/>
                        <a:t>Lionel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Lionel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Lionel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4039198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b="1" i="1" dirty="0"/>
                        <a:t>Messi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Messi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</a:rPr>
                        <a:t>Messi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184111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medical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089264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0130638"/>
                  </a:ext>
                </a:extLst>
              </a:tr>
              <a:tr h="4250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torn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3112969"/>
                  </a:ext>
                </a:extLst>
              </a:tr>
              <a:tr h="53930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75000"/>
                            </a:schemeClr>
                          </a:solidFill>
                        </a:rPr>
                        <a:t>ACL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633236"/>
                  </a:ext>
                </a:extLst>
              </a:tr>
            </a:tbl>
          </a:graphicData>
        </a:graphic>
      </p:graphicFrame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1896832-26F1-1E7A-C8CC-12D5B9E8A5AC}"/>
              </a:ext>
            </a:extLst>
          </p:cNvPr>
          <p:cNvCxnSpPr/>
          <p:nvPr/>
        </p:nvCxnSpPr>
        <p:spPr>
          <a:xfrm>
            <a:off x="3381153" y="4008474"/>
            <a:ext cx="1041991" cy="914400"/>
          </a:xfrm>
          <a:prstGeom prst="straightConnector1">
            <a:avLst/>
          </a:prstGeom>
          <a:ln w="254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51893E5-D775-A25C-B1F9-4C564F04E570}"/>
              </a:ext>
            </a:extLst>
          </p:cNvPr>
          <p:cNvCxnSpPr>
            <a:cxnSpLocks/>
          </p:cNvCxnSpPr>
          <p:nvPr/>
        </p:nvCxnSpPr>
        <p:spPr>
          <a:xfrm>
            <a:off x="3396343" y="4023360"/>
            <a:ext cx="1005840" cy="1293223"/>
          </a:xfrm>
          <a:prstGeom prst="straightConnector1">
            <a:avLst/>
          </a:prstGeom>
          <a:ln w="254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116A3C-A4B7-0C35-0AC1-27E6DBCF20D5}"/>
              </a:ext>
            </a:extLst>
          </p:cNvPr>
          <p:cNvCxnSpPr>
            <a:cxnSpLocks/>
          </p:cNvCxnSpPr>
          <p:nvPr/>
        </p:nvCxnSpPr>
        <p:spPr>
          <a:xfrm>
            <a:off x="3409406" y="4010297"/>
            <a:ext cx="979714" cy="1711234"/>
          </a:xfrm>
          <a:prstGeom prst="straightConnector1">
            <a:avLst/>
          </a:prstGeom>
          <a:ln w="254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E5DFDF-84BA-CF6F-7796-89D5CAB0CBEB}"/>
              </a:ext>
            </a:extLst>
          </p:cNvPr>
          <p:cNvCxnSpPr>
            <a:cxnSpLocks/>
          </p:cNvCxnSpPr>
          <p:nvPr/>
        </p:nvCxnSpPr>
        <p:spPr>
          <a:xfrm>
            <a:off x="3422469" y="4036423"/>
            <a:ext cx="979714" cy="2090057"/>
          </a:xfrm>
          <a:prstGeom prst="straightConnector1">
            <a:avLst/>
          </a:prstGeom>
          <a:ln w="25400"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1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3717-E326-8675-CB66-9FD419BD7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E80F4-C228-1930-FE7F-F71A998110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Foundational Model for text embeddings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Separate NER heads for Personal and PII entities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Cross Attention linking Personal NER (queries) and PII NER (keys, values)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Final classifier layer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7E7B7-5428-5BA1-2EE9-F9D4539B986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871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B053C03-6260-7B4D-F879-E6370B0EFC4D}"/>
              </a:ext>
            </a:extLst>
          </p:cNvPr>
          <p:cNvSpPr/>
          <p:nvPr/>
        </p:nvSpPr>
        <p:spPr>
          <a:xfrm>
            <a:off x="3707026" y="5795317"/>
            <a:ext cx="5189839" cy="4658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Foundational LLM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EA9039F-3E92-6E81-6E2F-812881AF21AF}"/>
              </a:ext>
            </a:extLst>
          </p:cNvPr>
          <p:cNvGrpSpPr/>
          <p:nvPr/>
        </p:nvGrpSpPr>
        <p:grpSpPr>
          <a:xfrm>
            <a:off x="1668592" y="3515499"/>
            <a:ext cx="2711302" cy="2094468"/>
            <a:chOff x="1816874" y="3429001"/>
            <a:chExt cx="2711302" cy="2094468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61E549A-908B-B8B6-4B51-9C712D2F9B9C}"/>
                </a:ext>
              </a:extLst>
            </p:cNvPr>
            <p:cNvSpPr/>
            <p:nvPr/>
          </p:nvSpPr>
          <p:spPr>
            <a:xfrm>
              <a:off x="1816874" y="3429001"/>
              <a:ext cx="2711302" cy="209446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sz="1400" dirty="0"/>
                <a:t>SoftMax NER Head</a:t>
              </a:r>
            </a:p>
            <a:p>
              <a:pPr algn="ctr"/>
              <a:r>
                <a:rPr lang="en-US" sz="1400" dirty="0"/>
                <a:t>(PERSONAL)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4B70D2B-A447-07A0-D47D-AC2B15346042}"/>
                </a:ext>
              </a:extLst>
            </p:cNvPr>
            <p:cNvGrpSpPr/>
            <p:nvPr/>
          </p:nvGrpSpPr>
          <p:grpSpPr>
            <a:xfrm>
              <a:off x="2704693" y="4142770"/>
              <a:ext cx="935665" cy="1315565"/>
              <a:chOff x="1729516" y="1778510"/>
              <a:chExt cx="935665" cy="131556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582173A-8F97-0B1A-12BF-B444834D98BB}"/>
                  </a:ext>
                </a:extLst>
              </p:cNvPr>
              <p:cNvSpPr/>
              <p:nvPr/>
            </p:nvSpPr>
            <p:spPr>
              <a:xfrm>
                <a:off x="1729516" y="2838893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3F18FD0-E882-199C-CA98-9CD4595AC1B2}"/>
                  </a:ext>
                </a:extLst>
              </p:cNvPr>
              <p:cNvSpPr/>
              <p:nvPr/>
            </p:nvSpPr>
            <p:spPr>
              <a:xfrm>
                <a:off x="1729516" y="2573798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ReLU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68EBBBD-296A-D46B-4BFF-DFBFDC84C4B9}"/>
                  </a:ext>
                </a:extLst>
              </p:cNvPr>
              <p:cNvSpPr/>
              <p:nvPr/>
            </p:nvSpPr>
            <p:spPr>
              <a:xfrm>
                <a:off x="1729516" y="2308702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Dropout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5323A30-3DA7-5BBE-2D8F-51090983BE2B}"/>
                  </a:ext>
                </a:extLst>
              </p:cNvPr>
              <p:cNvSpPr/>
              <p:nvPr/>
            </p:nvSpPr>
            <p:spPr>
              <a:xfrm>
                <a:off x="1729516" y="1778510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SoftMax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1CDF0EB-828D-FF08-144F-8D67943B3A14}"/>
                  </a:ext>
                </a:extLst>
              </p:cNvPr>
              <p:cNvSpPr/>
              <p:nvPr/>
            </p:nvSpPr>
            <p:spPr>
              <a:xfrm>
                <a:off x="1729516" y="2043606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</a:t>
                </a:r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2190A24-C041-E4F9-01EA-D764E87F2D90}"/>
              </a:ext>
            </a:extLst>
          </p:cNvPr>
          <p:cNvGrpSpPr/>
          <p:nvPr/>
        </p:nvGrpSpPr>
        <p:grpSpPr>
          <a:xfrm>
            <a:off x="7925230" y="3527855"/>
            <a:ext cx="2711302" cy="2094468"/>
            <a:chOff x="1816874" y="3429001"/>
            <a:chExt cx="2711302" cy="2094468"/>
          </a:xfrm>
        </p:grpSpPr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8A0A8A37-BC5F-FB7A-BB21-045663E3C12D}"/>
                </a:ext>
              </a:extLst>
            </p:cNvPr>
            <p:cNvSpPr/>
            <p:nvPr/>
          </p:nvSpPr>
          <p:spPr>
            <a:xfrm>
              <a:off x="1816874" y="3429001"/>
              <a:ext cx="2711302" cy="209446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sz="1400" dirty="0"/>
                <a:t>SoftMax NER Head</a:t>
              </a:r>
            </a:p>
            <a:p>
              <a:pPr algn="ctr"/>
              <a:r>
                <a:rPr lang="en-US" sz="1400" dirty="0"/>
                <a:t>(PII)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D3E611F-3707-716A-80ED-402C8D5FBACD}"/>
                </a:ext>
              </a:extLst>
            </p:cNvPr>
            <p:cNvGrpSpPr/>
            <p:nvPr/>
          </p:nvGrpSpPr>
          <p:grpSpPr>
            <a:xfrm>
              <a:off x="2704693" y="4142770"/>
              <a:ext cx="935665" cy="1315565"/>
              <a:chOff x="1729516" y="1778510"/>
              <a:chExt cx="935665" cy="1315565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C88ADE4F-4372-C1C8-4238-2821D37F5B71}"/>
                  </a:ext>
                </a:extLst>
              </p:cNvPr>
              <p:cNvSpPr/>
              <p:nvPr/>
            </p:nvSpPr>
            <p:spPr>
              <a:xfrm>
                <a:off x="1729516" y="2838893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0685BFF-AFD5-1D61-B451-D94336478510}"/>
                  </a:ext>
                </a:extLst>
              </p:cNvPr>
              <p:cNvSpPr/>
              <p:nvPr/>
            </p:nvSpPr>
            <p:spPr>
              <a:xfrm>
                <a:off x="1729516" y="2573798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ReLU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9AB57255-BBE2-8177-3AE1-54EAFE6AE8F9}"/>
                  </a:ext>
                </a:extLst>
              </p:cNvPr>
              <p:cNvSpPr/>
              <p:nvPr/>
            </p:nvSpPr>
            <p:spPr>
              <a:xfrm>
                <a:off x="1729516" y="2308702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Dropout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1D5291E-3892-D1EC-1DC6-B3E25D149213}"/>
                  </a:ext>
                </a:extLst>
              </p:cNvPr>
              <p:cNvSpPr/>
              <p:nvPr/>
            </p:nvSpPr>
            <p:spPr>
              <a:xfrm>
                <a:off x="1729516" y="1778510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SoftMax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F9A56AD2-3D96-D313-A910-B05A1BC85A26}"/>
                  </a:ext>
                </a:extLst>
              </p:cNvPr>
              <p:cNvSpPr/>
              <p:nvPr/>
            </p:nvSpPr>
            <p:spPr>
              <a:xfrm>
                <a:off x="1729516" y="2043606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7AB6F40-D482-46E9-7AF5-57A446756007}"/>
              </a:ext>
            </a:extLst>
          </p:cNvPr>
          <p:cNvGrpSpPr/>
          <p:nvPr/>
        </p:nvGrpSpPr>
        <p:grpSpPr>
          <a:xfrm>
            <a:off x="4378410" y="2446638"/>
            <a:ext cx="3435179" cy="1092999"/>
            <a:chOff x="4497859" y="2026508"/>
            <a:chExt cx="3435179" cy="109299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2412A67-BFFF-8F41-2CEF-41745CC82310}"/>
                </a:ext>
              </a:extLst>
            </p:cNvPr>
            <p:cNvSpPr/>
            <p:nvPr/>
          </p:nvSpPr>
          <p:spPr>
            <a:xfrm>
              <a:off x="4497859" y="2026508"/>
              <a:ext cx="3435179" cy="109299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/>
                <a:t>Cross Attention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B3D289C0-5EB9-2BB2-CB39-5B9E8D1E3B71}"/>
                </a:ext>
              </a:extLst>
            </p:cNvPr>
            <p:cNvGrpSpPr/>
            <p:nvPr/>
          </p:nvGrpSpPr>
          <p:grpSpPr>
            <a:xfrm>
              <a:off x="4738481" y="2620591"/>
              <a:ext cx="2953935" cy="255182"/>
              <a:chOff x="1049894" y="2954223"/>
              <a:chExt cx="2953935" cy="25518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13C7882-2ECE-C93C-B8A1-35E8409FD169}"/>
                  </a:ext>
                </a:extLst>
              </p:cNvPr>
              <p:cNvSpPr/>
              <p:nvPr/>
            </p:nvSpPr>
            <p:spPr>
              <a:xfrm>
                <a:off x="1049894" y="2954223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 (Q)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4C94DD7-C329-DCD0-11A6-0DF9D2903D75}"/>
                  </a:ext>
                </a:extLst>
              </p:cNvPr>
              <p:cNvSpPr/>
              <p:nvPr/>
            </p:nvSpPr>
            <p:spPr>
              <a:xfrm>
                <a:off x="2059029" y="2954223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 (K)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CA466FE-0E3C-4051-2C2A-B988AEB73292}"/>
                  </a:ext>
                </a:extLst>
              </p:cNvPr>
              <p:cNvSpPr/>
              <p:nvPr/>
            </p:nvSpPr>
            <p:spPr>
              <a:xfrm>
                <a:off x="3068164" y="2954223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 (V)</a:t>
                </a: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B7FC153-978F-EDC7-DF81-B395BFA74939}"/>
              </a:ext>
            </a:extLst>
          </p:cNvPr>
          <p:cNvGrpSpPr/>
          <p:nvPr/>
        </p:nvGrpSpPr>
        <p:grpSpPr>
          <a:xfrm>
            <a:off x="4399005" y="247135"/>
            <a:ext cx="3385752" cy="1845273"/>
            <a:chOff x="4399005" y="247135"/>
            <a:chExt cx="3385752" cy="1845273"/>
          </a:xfrm>
        </p:grpSpPr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438AE251-0EAD-82E2-0F39-C76B57E15487}"/>
                </a:ext>
              </a:extLst>
            </p:cNvPr>
            <p:cNvSpPr/>
            <p:nvPr/>
          </p:nvSpPr>
          <p:spPr>
            <a:xfrm>
              <a:off x="4399005" y="247135"/>
              <a:ext cx="3385752" cy="184527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sz="1400" dirty="0"/>
                <a:t>Privacy Classifier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ECA597C-57E5-26D3-4F9B-B976EC781F32}"/>
                </a:ext>
              </a:extLst>
            </p:cNvPr>
            <p:cNvGrpSpPr/>
            <p:nvPr/>
          </p:nvGrpSpPr>
          <p:grpSpPr>
            <a:xfrm>
              <a:off x="5624049" y="711710"/>
              <a:ext cx="935665" cy="1315565"/>
              <a:chOff x="1729516" y="1778510"/>
              <a:chExt cx="935665" cy="1315565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15763C5-DFE4-F8E5-1BD3-20A5F9E03DF3}"/>
                  </a:ext>
                </a:extLst>
              </p:cNvPr>
              <p:cNvSpPr/>
              <p:nvPr/>
            </p:nvSpPr>
            <p:spPr>
              <a:xfrm>
                <a:off x="1729516" y="2838893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</a:t>
                </a: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715A9B8-3568-17A5-B29C-280CFA7ABB08}"/>
                  </a:ext>
                </a:extLst>
              </p:cNvPr>
              <p:cNvSpPr/>
              <p:nvPr/>
            </p:nvSpPr>
            <p:spPr>
              <a:xfrm>
                <a:off x="1729516" y="2573798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ReLU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33D19015-C49B-03B8-4B47-84E27D323371}"/>
                  </a:ext>
                </a:extLst>
              </p:cNvPr>
              <p:cNvSpPr/>
              <p:nvPr/>
            </p:nvSpPr>
            <p:spPr>
              <a:xfrm>
                <a:off x="1729516" y="2308702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6EDD26F-BC4B-FFB0-E665-355ADA207193}"/>
                  </a:ext>
                </a:extLst>
              </p:cNvPr>
              <p:cNvSpPr/>
              <p:nvPr/>
            </p:nvSpPr>
            <p:spPr>
              <a:xfrm>
                <a:off x="1729516" y="1778510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XEntropy</a:t>
                </a:r>
                <a:endParaRPr lang="en-US" sz="1200" dirty="0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C8574062-AD15-F466-2CB4-7C6BEF2E8158}"/>
                  </a:ext>
                </a:extLst>
              </p:cNvPr>
              <p:cNvSpPr/>
              <p:nvPr/>
            </p:nvSpPr>
            <p:spPr>
              <a:xfrm>
                <a:off x="1729516" y="2043606"/>
                <a:ext cx="935665" cy="25518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Dense</a:t>
                </a:r>
              </a:p>
            </p:txBody>
          </p:sp>
        </p:grpSp>
      </p:grpSp>
      <p:sp>
        <p:nvSpPr>
          <p:cNvPr id="55" name="Up Arrow 54">
            <a:extLst>
              <a:ext uri="{FF2B5EF4-FFF2-40B4-BE49-F238E27FC236}">
                <a16:creationId xmlns:a16="http://schemas.microsoft.com/office/drawing/2014/main" id="{DA5EB90D-5785-93B5-3C72-09E68109E680}"/>
              </a:ext>
            </a:extLst>
          </p:cNvPr>
          <p:cNvSpPr/>
          <p:nvPr/>
        </p:nvSpPr>
        <p:spPr>
          <a:xfrm>
            <a:off x="5892113" y="6388444"/>
            <a:ext cx="407773" cy="32127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634F4514-84E4-0512-883D-0E856DA0B771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rot="5400000" flipH="1" flipV="1">
            <a:off x="3440146" y="2577236"/>
            <a:ext cx="522361" cy="1354167"/>
          </a:xfrm>
          <a:prstGeom prst="bentConnector2">
            <a:avLst/>
          </a:prstGeom>
          <a:ln w="508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9FCE2068-7A5D-5110-DC35-10F37BE192A7}"/>
              </a:ext>
            </a:extLst>
          </p:cNvPr>
          <p:cNvCxnSpPr>
            <a:cxnSpLocks/>
            <a:stCxn id="35" idx="0"/>
            <a:endCxn id="5" idx="3"/>
          </p:cNvCxnSpPr>
          <p:nvPr/>
        </p:nvCxnSpPr>
        <p:spPr>
          <a:xfrm rot="16200000" flipV="1">
            <a:off x="8279877" y="2526851"/>
            <a:ext cx="534717" cy="1467292"/>
          </a:xfrm>
          <a:prstGeom prst="bentConnector2">
            <a:avLst/>
          </a:prstGeom>
          <a:ln w="508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>
            <a:extLst>
              <a:ext uri="{FF2B5EF4-FFF2-40B4-BE49-F238E27FC236}">
                <a16:creationId xmlns:a16="http://schemas.microsoft.com/office/drawing/2014/main" id="{9DE7FAC4-A98D-EB34-8049-ABC115D8BC00}"/>
              </a:ext>
            </a:extLst>
          </p:cNvPr>
          <p:cNvCxnSpPr>
            <a:cxnSpLocks/>
            <a:stCxn id="2" idx="0"/>
            <a:endCxn id="4" idx="3"/>
          </p:cNvCxnSpPr>
          <p:nvPr/>
        </p:nvCxnSpPr>
        <p:spPr>
          <a:xfrm rot="16200000" flipV="1">
            <a:off x="4724628" y="4217999"/>
            <a:ext cx="1232584" cy="1922052"/>
          </a:xfrm>
          <a:prstGeom prst="bentConnector2">
            <a:avLst/>
          </a:prstGeom>
          <a:ln w="508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37A61B4A-9710-4CFA-5CFD-1329DF3956B1}"/>
              </a:ext>
            </a:extLst>
          </p:cNvPr>
          <p:cNvCxnSpPr>
            <a:cxnSpLocks/>
            <a:stCxn id="2" idx="0"/>
            <a:endCxn id="35" idx="1"/>
          </p:cNvCxnSpPr>
          <p:nvPr/>
        </p:nvCxnSpPr>
        <p:spPr>
          <a:xfrm rot="5400000" flipH="1" flipV="1">
            <a:off x="6503474" y="4373561"/>
            <a:ext cx="1220228" cy="1623284"/>
          </a:xfrm>
          <a:prstGeom prst="bentConnector2">
            <a:avLst/>
          </a:prstGeom>
          <a:ln w="508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76C1546-F7C3-53B3-DD71-2D8F55237CC9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6301946" y="3429000"/>
            <a:ext cx="0" cy="2366317"/>
          </a:xfrm>
          <a:prstGeom prst="straightConnector1">
            <a:avLst/>
          </a:prstGeom>
          <a:ln w="508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4B57B85-6EAF-F7A4-36D5-98131A76E48B}"/>
              </a:ext>
            </a:extLst>
          </p:cNvPr>
          <p:cNvCxnSpPr>
            <a:cxnSpLocks/>
          </p:cNvCxnSpPr>
          <p:nvPr/>
        </p:nvCxnSpPr>
        <p:spPr>
          <a:xfrm flipH="1" flipV="1">
            <a:off x="6376086" y="2067694"/>
            <a:ext cx="4119" cy="354230"/>
          </a:xfrm>
          <a:prstGeom prst="straightConnector1">
            <a:avLst/>
          </a:prstGeom>
          <a:ln w="508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5364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0010-4DD1-88AD-0D6C-2CD029231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- Loss Curve</a:t>
            </a:r>
          </a:p>
        </p:txBody>
      </p:sp>
      <p:pic>
        <p:nvPicPr>
          <p:cNvPr id="5" name="Content Placeholder 4" descr="A graph of training and validation loss&#10;&#10;AI-generated content may be incorrect.">
            <a:extLst>
              <a:ext uri="{FF2B5EF4-FFF2-40B4-BE49-F238E27FC236}">
                <a16:creationId xmlns:a16="http://schemas.microsoft.com/office/drawing/2014/main" id="{920D1C98-4C49-1963-61A1-2E0E8BB137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5108" y="1825625"/>
            <a:ext cx="5801784" cy="4351338"/>
          </a:xfrm>
        </p:spPr>
      </p:pic>
    </p:spTree>
    <p:extLst>
      <p:ext uri="{BB962C8B-B14F-4D97-AF65-F5344CB8AC3E}">
        <p14:creationId xmlns:p14="http://schemas.microsoft.com/office/powerpoint/2010/main" val="214863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52E96-940C-244E-F07D-2BBC5741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5E7A-5503-F34B-B237-762C3F90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</a:t>
            </a:r>
          </a:p>
        </p:txBody>
      </p:sp>
      <p:pic>
        <p:nvPicPr>
          <p:cNvPr id="7" name="Content Placeholder 6" descr="A graph showing the results of a training performance&#10;&#10;AI-generated content may be incorrect.">
            <a:extLst>
              <a:ext uri="{FF2B5EF4-FFF2-40B4-BE49-F238E27FC236}">
                <a16:creationId xmlns:a16="http://schemas.microsoft.com/office/drawing/2014/main" id="{AA739C59-9BA0-589E-B49D-8EE8F7B275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9885" y="1825625"/>
            <a:ext cx="7252230" cy="4351338"/>
          </a:xfrm>
        </p:spPr>
      </p:pic>
    </p:spTree>
    <p:extLst>
      <p:ext uri="{BB962C8B-B14F-4D97-AF65-F5344CB8AC3E}">
        <p14:creationId xmlns:p14="http://schemas.microsoft.com/office/powerpoint/2010/main" val="3755294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53AE8-4A97-2DAA-2B44-C59ADACC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3FBD9-7104-5A62-FD28-CB094BB0B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3EC7B-9ABD-AB42-9133-E38390748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Wikipedia Privacy Dataset (Failed)</a:t>
            </a:r>
          </a:p>
          <a:p>
            <a:pPr>
              <a:buFont typeface="+mj-lt"/>
              <a:buAutoNum type="arabicPeriod"/>
            </a:pPr>
            <a:r>
              <a:rPr lang="en-US" dirty="0" err="1"/>
              <a:t>Bigcode</a:t>
            </a:r>
            <a:r>
              <a:rPr lang="en-US" dirty="0"/>
              <a:t>/</a:t>
            </a:r>
            <a:r>
              <a:rPr lang="en-US" dirty="0" err="1"/>
              <a:t>pii-bigcode</a:t>
            </a:r>
            <a:r>
              <a:rPr lang="en-US" dirty="0"/>
              <a:t> Dataset (Failed: Annotation inconsistency)</a:t>
            </a:r>
          </a:p>
          <a:p>
            <a:pPr>
              <a:buFont typeface="+mj-lt"/>
              <a:buAutoNum type="arabicPeriod"/>
            </a:pPr>
            <a:r>
              <a:rPr lang="en-US" dirty="0"/>
              <a:t>ONTO Dataset (Failed: Costly)</a:t>
            </a:r>
          </a:p>
          <a:p>
            <a:pPr>
              <a:buFont typeface="+mj-lt"/>
              <a:buAutoNum type="arabicPeriod"/>
            </a:pPr>
            <a:r>
              <a:rPr lang="en-US" dirty="0"/>
              <a:t>Synthetic Dataset v1 (Partial success)</a:t>
            </a:r>
          </a:p>
          <a:p>
            <a:pPr>
              <a:buFont typeface="+mj-lt"/>
              <a:buAutoNum type="arabicPeriod"/>
            </a:pPr>
            <a:r>
              <a:rPr lang="en-US" dirty="0"/>
              <a:t>Synthetic Dataset v2 (Successful)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904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0971F-DE9E-130A-38F9-73FC42243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CAB4E-1677-C0A3-3BDB-2E1E18507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Ablation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93E17-00D3-1DB2-7A3C-67250108E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Ablation </a:t>
            </a:r>
          </a:p>
          <a:p>
            <a:pPr lvl="1"/>
            <a:r>
              <a:rPr lang="en-US" dirty="0"/>
              <a:t>Conditional Random Field Classifier</a:t>
            </a:r>
          </a:p>
          <a:p>
            <a:pPr lvl="1"/>
            <a:r>
              <a:rPr lang="en-US" dirty="0"/>
              <a:t>Plain Binary Classifier</a:t>
            </a:r>
          </a:p>
          <a:p>
            <a:r>
              <a:rPr lang="en-US" dirty="0"/>
              <a:t>Feed Forward Networks</a:t>
            </a:r>
          </a:p>
          <a:p>
            <a:pPr lvl="1"/>
            <a:r>
              <a:rPr lang="en-US" dirty="0"/>
              <a:t>Expansion Factor 1.0</a:t>
            </a:r>
          </a:p>
          <a:p>
            <a:pPr lvl="1"/>
            <a:r>
              <a:rPr lang="en-US" dirty="0"/>
              <a:t>Expansion Factor 2.0</a:t>
            </a:r>
          </a:p>
          <a:p>
            <a:r>
              <a:rPr lang="en-US" dirty="0"/>
              <a:t>BIO Tag Variation</a:t>
            </a:r>
          </a:p>
          <a:p>
            <a:pPr lvl="1"/>
            <a:r>
              <a:rPr lang="en-US" dirty="0"/>
              <a:t>With Plain NER Tags</a:t>
            </a:r>
          </a:p>
          <a:p>
            <a:pPr lvl="1"/>
            <a:r>
              <a:rPr lang="en-US" dirty="0"/>
              <a:t>With Co-Reference Tags</a:t>
            </a:r>
          </a:p>
        </p:txBody>
      </p:sp>
    </p:spTree>
    <p:extLst>
      <p:ext uri="{BB962C8B-B14F-4D97-AF65-F5344CB8AC3E}">
        <p14:creationId xmlns:p14="http://schemas.microsoft.com/office/powerpoint/2010/main" val="3977247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A4F53-B7A0-318C-0231-C9D1C95D9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Studies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AD29C-6C44-A446-8436-F2AA70BDA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98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BE8-6ED1-86C6-716B-D084790D8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9D6ED-B955-0E31-600A-44B07517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0310C-C331-C072-FCC8-D8347EE92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774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3DD94-6247-8AAA-999B-0DA402809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9FB7C-B679-F060-1F70-6F9C38DDE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9A41D-F1F3-D215-6ACD-772ED98E1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Support all model architectures</a:t>
            </a:r>
            <a:endParaRPr lang="en-US" dirty="0"/>
          </a:p>
          <a:p>
            <a:r>
              <a:rPr lang="en-US" b="1" dirty="0"/>
              <a:t>Handle co-references and co-variates</a:t>
            </a:r>
            <a:endParaRPr lang="en-US" dirty="0"/>
          </a:p>
          <a:p>
            <a:r>
              <a:rPr lang="en-US" b="1" dirty="0"/>
              <a:t>Unify and expand dataset annotations</a:t>
            </a:r>
            <a:endParaRPr lang="en-US" dirty="0"/>
          </a:p>
          <a:p>
            <a:r>
              <a:rPr lang="en-US" b="1" dirty="0"/>
              <a:t>Explore advanced masking and redaction</a:t>
            </a:r>
            <a:endParaRPr lang="en-US" dirty="0"/>
          </a:p>
          <a:p>
            <a:r>
              <a:rPr lang="en-US" b="1" dirty="0"/>
              <a:t>Evolve into a foundational PII layer</a:t>
            </a:r>
            <a:endParaRPr lang="en-US" dirty="0"/>
          </a:p>
          <a:p>
            <a:r>
              <a:rPr lang="en-US" b="1" dirty="0"/>
              <a:t>Build PII leakage benchmarks</a:t>
            </a:r>
            <a:endParaRPr lang="en-US" dirty="0"/>
          </a:p>
          <a:p>
            <a:r>
              <a:rPr lang="en-US" b="1" dirty="0"/>
              <a:t>Visualize attention and masking</a:t>
            </a:r>
            <a:endParaRPr lang="en-US" dirty="0"/>
          </a:p>
          <a:p>
            <a:r>
              <a:rPr lang="en-US" b="1" dirty="0"/>
              <a:t>Extend to tasks like relation/event detection</a:t>
            </a:r>
            <a:endParaRPr lang="en-US" dirty="0"/>
          </a:p>
          <a:p>
            <a:r>
              <a:rPr lang="en-US" b="1" dirty="0"/>
              <a:t>Prototype real-world deployment use cases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899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9829</TotalTime>
  <Words>634</Words>
  <Application>Microsoft Macintosh PowerPoint</Application>
  <PresentationFormat>Widescreen</PresentationFormat>
  <Paragraphs>129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Attention to Privacy</vt:lpstr>
      <vt:lpstr>Motivation</vt:lpstr>
      <vt:lpstr>Privacy Attention Mechanism</vt:lpstr>
      <vt:lpstr>Privacy Attention Mechanism</vt:lpstr>
      <vt:lpstr>Model Architecture</vt:lpstr>
      <vt:lpstr>PowerPoint Presentation</vt:lpstr>
      <vt:lpstr>Training - Loss Curve</vt:lpstr>
      <vt:lpstr>Accuracy </vt:lpstr>
      <vt:lpstr>Datasets</vt:lpstr>
      <vt:lpstr>Ablation Study</vt:lpstr>
      <vt:lpstr>Benchmark Studies</vt:lpstr>
      <vt:lpstr>Results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Pals Chinnakannan</dc:creator>
  <cp:lastModifiedBy>Pals Chinnakannan</cp:lastModifiedBy>
  <cp:revision>5</cp:revision>
  <dcterms:created xsi:type="dcterms:W3CDTF">2025-04-06T21:18:25Z</dcterms:created>
  <dcterms:modified xsi:type="dcterms:W3CDTF">2025-04-17T16:23:41Z</dcterms:modified>
</cp:coreProperties>
</file>