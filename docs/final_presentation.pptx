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6" r:id="rId1"/>
  </p:sldMasterIdLst>
  <p:sldIdLst>
    <p:sldId id="256" r:id="rId2"/>
    <p:sldId id="257" r:id="rId3"/>
    <p:sldId id="267" r:id="rId4"/>
    <p:sldId id="268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8"/>
    <p:restoredTop sz="94658"/>
  </p:normalViewPr>
  <p:slideViewPr>
    <p:cSldViewPr snapToGrid="0" showGuides="1">
      <p:cViewPr varScale="1">
        <p:scale>
          <a:sx n="120" d="100"/>
          <a:sy n="120" d="100"/>
        </p:scale>
        <p:origin x="568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C4797-9FB2-8211-EEA0-548517AAB4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631101-AB10-8C78-501C-B27088CB0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5388A-A46A-3379-F247-73E9112F5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1879-4DBD-4541-B573-AA32F9D80C25}" type="datetimeFigureOut">
              <a:rPr lang="en-US" smtClean="0"/>
              <a:t>4/11/25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1455F-96A1-5E41-9628-B84849A22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94025-E58D-92AE-8369-A656F465B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C6D8-0BF1-8F40-90DD-31802269C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22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0950D-5975-2863-806A-5FF5083FC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00DE-6B49-2E52-4F07-0D4E53454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4D724-ECE1-A4B8-B840-7C75F3876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1879-4DBD-4541-B573-AA32F9D80C25}" type="datetimeFigureOut">
              <a:rPr lang="en-US" smtClean="0"/>
              <a:t>4/11/25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A465F-940F-7257-0D47-249F1F37A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9817C-E946-41B5-DB75-CE331835B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C6D8-0BF1-8F40-90DD-31802269C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64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260CC-4BA5-CC76-A1C4-C7EC8D4C3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10508-A9A8-F7F8-F2BB-1DB38171C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36CE2-D082-C5E5-60D2-2126A559B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1879-4DBD-4541-B573-AA32F9D80C25}" type="datetimeFigureOut">
              <a:rPr lang="en-US" smtClean="0"/>
              <a:t>4/11/25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EE5C4-C7BC-983C-57E2-E33C4DEE8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461DE-BAF8-8D28-1CCF-91C810311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C6D8-0BF1-8F40-90DD-31802269C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213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2786D-2FD0-3C30-5F52-95A3006BD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22C07-C26E-E434-11FF-517213CEA5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BCFE1F-1418-FD18-8064-E25FD5C3A3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15C768-AA1A-A9A5-4397-2ACBFE636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1879-4DBD-4541-B573-AA32F9D80C25}" type="datetimeFigureOut">
              <a:rPr lang="en-US" smtClean="0"/>
              <a:t>4/11/25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8F9C1-42B7-CC21-400C-F72461FE2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BB949-1EEB-7416-4553-B81249B57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C6D8-0BF1-8F40-90DD-31802269C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44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C4BA3-754E-7F4E-BEB7-4393A6304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0C88B-4EE6-59E6-4876-9C9F16730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2A25E2-0E46-34B7-A8A7-17DAB5122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A4DB2E-8A10-0BE8-B6B8-7A51FE4DD7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A07540-6DEF-10A5-D6F2-5E18F07EBB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B8A0BF-5FA4-6B4A-BFF2-3B3386FFE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1879-4DBD-4541-B573-AA32F9D80C25}" type="datetimeFigureOut">
              <a:rPr lang="en-US" smtClean="0"/>
              <a:t>4/11/25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79AEB8-5F4D-6828-6C33-6E6A171A6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648013-EE54-6E7B-9538-1BE4DDDE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C6D8-0BF1-8F40-90DD-31802269C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09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E670B-3A2B-15C8-55D6-43802917F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AF2E16-13A3-3760-3BBD-AC1D39705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1879-4DBD-4541-B573-AA32F9D80C25}" type="datetimeFigureOut">
              <a:rPr lang="en-US" smtClean="0"/>
              <a:t>4/11/25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DD931D-19D6-4AD7-2423-690D49798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652EB-50E5-9B66-E233-AAED9F66C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C6D8-0BF1-8F40-90DD-31802269C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82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86C316-0486-2F4D-161C-97B3A4B9E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1879-4DBD-4541-B573-AA32F9D80C25}" type="datetimeFigureOut">
              <a:rPr lang="en-US" smtClean="0"/>
              <a:t>4/11/25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4279D9-9903-A5A0-8D8A-880AAC716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20C9D-CC74-7BB8-4D71-833D5CE7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C6D8-0BF1-8F40-90DD-31802269C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41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9784C-E13C-40EC-1467-045146B84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E53EB-52C4-B694-D319-9E03635F0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4FC78A-7A5B-470C-BA0F-10670843B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0593B8-9EC6-C85F-EED1-4E95FBB91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1879-4DBD-4541-B573-AA32F9D80C25}" type="datetimeFigureOut">
              <a:rPr lang="en-US" smtClean="0"/>
              <a:t>4/11/25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6417F-EE1C-75CF-02CB-75E7D72FA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696B8-92F7-38EA-B556-47305E788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C6D8-0BF1-8F40-90DD-31802269C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65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3ED10-CC96-437D-2D7A-952CCD2F4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C2D782-FB33-777C-B6A6-702A83DC6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FA013B-771F-C56D-A060-1BD0BA300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3EC03-9C23-57F2-90C2-5418E023D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1879-4DBD-4541-B573-AA32F9D80C25}" type="datetimeFigureOut">
              <a:rPr lang="en-US" smtClean="0"/>
              <a:t>4/11/25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D3523-8B9A-C0E3-9C47-68FB0AC71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EC0E3-E017-992A-4870-13E974940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C6D8-0BF1-8F40-90DD-31802269C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81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5E634-23F9-6326-F08D-6BFB9B698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CDD76B-83A3-A800-177F-27845D53D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BBEB0-4B48-6ECF-8690-590862FD2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1879-4DBD-4541-B573-AA32F9D80C25}" type="datetimeFigureOut">
              <a:rPr lang="en-US" smtClean="0"/>
              <a:t>4/11/25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FF484-6E21-F63F-72D9-2FB47B534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106D1-90AE-0A74-C42B-BB6FFF6CF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C6D8-0BF1-8F40-90DD-31802269C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514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2C23C0-3997-7DF9-D3EE-91AFC909F3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49F7E-A4B7-BA56-DAAE-BF35233608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3091B-20E1-435F-F80F-AB5B6C9EA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1879-4DBD-4541-B573-AA32F9D80C25}" type="datetimeFigureOut">
              <a:rPr lang="en-US" smtClean="0"/>
              <a:t>4/11/25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D744F-51E4-4A36-55BD-6458A9DE5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ACC19-736B-7EF6-B8DB-D08E6B483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C6D8-0BF1-8F40-90DD-31802269C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427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5F78E6-A0D8-5224-44E3-4C759347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26890-135B-1758-288E-745FA9BF4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5CBCD-B60A-1764-12AD-DF29C1DF69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811879-4DBD-4541-B573-AA32F9D80C25}" type="datetimeFigureOut">
              <a:rPr lang="en-US" smtClean="0"/>
              <a:t>4/11/25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87E4F-7719-6AF7-8316-FB21122E62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B4810-F650-9537-AD61-5DDA0D71F7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5BC6D8-0BF1-8F40-90DD-31802269C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0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01BCB-E363-3774-8C2C-C94C478D44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Attention to Privacy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036D54-1D04-3063-D165-354F41DE2B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Attend NER elements to PII element in Input to</a:t>
            </a:r>
          </a:p>
          <a:p>
            <a:r>
              <a:rPr lang="en-US" dirty="0"/>
              <a:t>Detect privacy leakage</a:t>
            </a:r>
          </a:p>
          <a:p>
            <a:r>
              <a:rPr lang="en-US" dirty="0"/>
              <a:t>Pals </a:t>
            </a:r>
            <a:r>
              <a:rPr lang="en-US" dirty="0" err="1"/>
              <a:t>Chinnakanna</a:t>
            </a:r>
            <a:r>
              <a:rPr lang="en-US" dirty="0"/>
              <a:t>, David Erf</a:t>
            </a:r>
          </a:p>
        </p:txBody>
      </p:sp>
    </p:spTree>
    <p:extLst>
      <p:ext uri="{BB962C8B-B14F-4D97-AF65-F5344CB8AC3E}">
        <p14:creationId xmlns:p14="http://schemas.microsoft.com/office/powerpoint/2010/main" val="363032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BEBDC-D93B-AE6B-2268-7EDDA4804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D62E8-CDA5-1AE5-81B8-921A34660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Increasing need for protecting sensitive personal information (PII) from accidental exposure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Challenges in accurately detecting sensitive data in unstructured text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704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B053C03-6260-7B4D-F879-E6370B0EFC4D}"/>
              </a:ext>
            </a:extLst>
          </p:cNvPr>
          <p:cNvSpPr/>
          <p:nvPr/>
        </p:nvSpPr>
        <p:spPr>
          <a:xfrm>
            <a:off x="3707026" y="5795317"/>
            <a:ext cx="5189839" cy="4658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Foundational LLM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EA9039F-3E92-6E81-6E2F-812881AF21AF}"/>
              </a:ext>
            </a:extLst>
          </p:cNvPr>
          <p:cNvGrpSpPr/>
          <p:nvPr/>
        </p:nvGrpSpPr>
        <p:grpSpPr>
          <a:xfrm>
            <a:off x="1668592" y="3515499"/>
            <a:ext cx="2711302" cy="2094468"/>
            <a:chOff x="1816874" y="3429001"/>
            <a:chExt cx="2711302" cy="2094468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061E549A-908B-B8B6-4B51-9C712D2F9B9C}"/>
                </a:ext>
              </a:extLst>
            </p:cNvPr>
            <p:cNvSpPr/>
            <p:nvPr/>
          </p:nvSpPr>
          <p:spPr>
            <a:xfrm>
              <a:off x="1816874" y="3429001"/>
              <a:ext cx="2711302" cy="209446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400" dirty="0"/>
                <a:t>SoftMax NER Head</a:t>
              </a:r>
            </a:p>
            <a:p>
              <a:pPr algn="ctr"/>
              <a:r>
                <a:rPr lang="en-US" sz="1400" dirty="0"/>
                <a:t>(PERSONAL)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4B70D2B-A447-07A0-D47D-AC2B15346042}"/>
                </a:ext>
              </a:extLst>
            </p:cNvPr>
            <p:cNvGrpSpPr/>
            <p:nvPr/>
          </p:nvGrpSpPr>
          <p:grpSpPr>
            <a:xfrm>
              <a:off x="2704693" y="4142770"/>
              <a:ext cx="935665" cy="1315565"/>
              <a:chOff x="1729516" y="1778510"/>
              <a:chExt cx="935665" cy="131556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582173A-8F97-0B1A-12BF-B444834D98BB}"/>
                  </a:ext>
                </a:extLst>
              </p:cNvPr>
              <p:cNvSpPr/>
              <p:nvPr/>
            </p:nvSpPr>
            <p:spPr>
              <a:xfrm>
                <a:off x="1729516" y="2838893"/>
                <a:ext cx="935665" cy="25518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Dense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3F18FD0-E882-199C-CA98-9CD4595AC1B2}"/>
                  </a:ext>
                </a:extLst>
              </p:cNvPr>
              <p:cNvSpPr/>
              <p:nvPr/>
            </p:nvSpPr>
            <p:spPr>
              <a:xfrm>
                <a:off x="1729516" y="2573798"/>
                <a:ext cx="935665" cy="25518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ReLU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68EBBBD-296A-D46B-4BFF-DFBFDC84C4B9}"/>
                  </a:ext>
                </a:extLst>
              </p:cNvPr>
              <p:cNvSpPr/>
              <p:nvPr/>
            </p:nvSpPr>
            <p:spPr>
              <a:xfrm>
                <a:off x="1729516" y="2308702"/>
                <a:ext cx="935665" cy="25518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Dropout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5323A30-3DA7-5BBE-2D8F-51090983BE2B}"/>
                  </a:ext>
                </a:extLst>
              </p:cNvPr>
              <p:cNvSpPr/>
              <p:nvPr/>
            </p:nvSpPr>
            <p:spPr>
              <a:xfrm>
                <a:off x="1729516" y="1778510"/>
                <a:ext cx="935665" cy="25518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SoftMax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1CDF0EB-828D-FF08-144F-8D67943B3A14}"/>
                  </a:ext>
                </a:extLst>
              </p:cNvPr>
              <p:cNvSpPr/>
              <p:nvPr/>
            </p:nvSpPr>
            <p:spPr>
              <a:xfrm>
                <a:off x="1729516" y="2043606"/>
                <a:ext cx="935665" cy="25518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Dense</a:t>
                </a:r>
              </a:p>
            </p:txBody>
          </p: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2190A24-C041-E4F9-01EA-D764E87F2D90}"/>
              </a:ext>
            </a:extLst>
          </p:cNvPr>
          <p:cNvGrpSpPr/>
          <p:nvPr/>
        </p:nvGrpSpPr>
        <p:grpSpPr>
          <a:xfrm>
            <a:off x="7925230" y="3527855"/>
            <a:ext cx="2711302" cy="2094468"/>
            <a:chOff x="1816874" y="3429001"/>
            <a:chExt cx="2711302" cy="2094468"/>
          </a:xfrm>
        </p:grpSpPr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8A0A8A37-BC5F-FB7A-BB21-045663E3C12D}"/>
                </a:ext>
              </a:extLst>
            </p:cNvPr>
            <p:cNvSpPr/>
            <p:nvPr/>
          </p:nvSpPr>
          <p:spPr>
            <a:xfrm>
              <a:off x="1816874" y="3429001"/>
              <a:ext cx="2711302" cy="209446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400" dirty="0"/>
                <a:t>SoftMax NER Head</a:t>
              </a:r>
            </a:p>
            <a:p>
              <a:pPr algn="ctr"/>
              <a:r>
                <a:rPr lang="en-US" sz="1400" dirty="0"/>
                <a:t>(PII)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D3E611F-3707-716A-80ED-402C8D5FBACD}"/>
                </a:ext>
              </a:extLst>
            </p:cNvPr>
            <p:cNvGrpSpPr/>
            <p:nvPr/>
          </p:nvGrpSpPr>
          <p:grpSpPr>
            <a:xfrm>
              <a:off x="2704693" y="4142770"/>
              <a:ext cx="935665" cy="1315565"/>
              <a:chOff x="1729516" y="1778510"/>
              <a:chExt cx="935665" cy="1315565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88ADE4F-4372-C1C8-4238-2821D37F5B71}"/>
                  </a:ext>
                </a:extLst>
              </p:cNvPr>
              <p:cNvSpPr/>
              <p:nvPr/>
            </p:nvSpPr>
            <p:spPr>
              <a:xfrm>
                <a:off x="1729516" y="2838893"/>
                <a:ext cx="935665" cy="25518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Dense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50685BFF-AFD5-1D61-B451-D94336478510}"/>
                  </a:ext>
                </a:extLst>
              </p:cNvPr>
              <p:cNvSpPr/>
              <p:nvPr/>
            </p:nvSpPr>
            <p:spPr>
              <a:xfrm>
                <a:off x="1729516" y="2573798"/>
                <a:ext cx="935665" cy="25518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ReLU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9AB57255-BBE2-8177-3AE1-54EAFE6AE8F9}"/>
                  </a:ext>
                </a:extLst>
              </p:cNvPr>
              <p:cNvSpPr/>
              <p:nvPr/>
            </p:nvSpPr>
            <p:spPr>
              <a:xfrm>
                <a:off x="1729516" y="2308702"/>
                <a:ext cx="935665" cy="25518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Dropout</a:t>
                </a: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1D5291E-3892-D1EC-1DC6-B3E25D149213}"/>
                  </a:ext>
                </a:extLst>
              </p:cNvPr>
              <p:cNvSpPr/>
              <p:nvPr/>
            </p:nvSpPr>
            <p:spPr>
              <a:xfrm>
                <a:off x="1729516" y="1778510"/>
                <a:ext cx="935665" cy="25518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SoftMax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F9A56AD2-3D96-D313-A910-B05A1BC85A26}"/>
                  </a:ext>
                </a:extLst>
              </p:cNvPr>
              <p:cNvSpPr/>
              <p:nvPr/>
            </p:nvSpPr>
            <p:spPr>
              <a:xfrm>
                <a:off x="1729516" y="2043606"/>
                <a:ext cx="935665" cy="25518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Dense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7AB6F40-D482-46E9-7AF5-57A446756007}"/>
              </a:ext>
            </a:extLst>
          </p:cNvPr>
          <p:cNvGrpSpPr/>
          <p:nvPr/>
        </p:nvGrpSpPr>
        <p:grpSpPr>
          <a:xfrm>
            <a:off x="4378410" y="2446638"/>
            <a:ext cx="3435179" cy="1092999"/>
            <a:chOff x="4497859" y="2026508"/>
            <a:chExt cx="3435179" cy="1092999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82412A67-BFFF-8F41-2CEF-41745CC82310}"/>
                </a:ext>
              </a:extLst>
            </p:cNvPr>
            <p:cNvSpPr/>
            <p:nvPr/>
          </p:nvSpPr>
          <p:spPr>
            <a:xfrm>
              <a:off x="4497859" y="2026508"/>
              <a:ext cx="3435179" cy="109299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/>
                <a:t>Cross Attention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3D289C0-5EB9-2BB2-CB39-5B9E8D1E3B71}"/>
                </a:ext>
              </a:extLst>
            </p:cNvPr>
            <p:cNvGrpSpPr/>
            <p:nvPr/>
          </p:nvGrpSpPr>
          <p:grpSpPr>
            <a:xfrm>
              <a:off x="4738481" y="2620591"/>
              <a:ext cx="2953935" cy="255182"/>
              <a:chOff x="1049894" y="2954223"/>
              <a:chExt cx="2953935" cy="255182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13C7882-2ECE-C93C-B8A1-35E8409FD169}"/>
                  </a:ext>
                </a:extLst>
              </p:cNvPr>
              <p:cNvSpPr/>
              <p:nvPr/>
            </p:nvSpPr>
            <p:spPr>
              <a:xfrm>
                <a:off x="1049894" y="2954223"/>
                <a:ext cx="935665" cy="25518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Dense (Q)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C4C94DD7-C329-DCD0-11A6-0DF9D2903D75}"/>
                  </a:ext>
                </a:extLst>
              </p:cNvPr>
              <p:cNvSpPr/>
              <p:nvPr/>
            </p:nvSpPr>
            <p:spPr>
              <a:xfrm>
                <a:off x="2059029" y="2954223"/>
                <a:ext cx="935665" cy="25518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Dense (K)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ECA466FE-0E3C-4051-2C2A-B988AEB73292}"/>
                  </a:ext>
                </a:extLst>
              </p:cNvPr>
              <p:cNvSpPr/>
              <p:nvPr/>
            </p:nvSpPr>
            <p:spPr>
              <a:xfrm>
                <a:off x="3068164" y="2954223"/>
                <a:ext cx="935665" cy="25518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Dense (V)</a:t>
                </a: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B7FC153-978F-EDC7-DF81-B395BFA74939}"/>
              </a:ext>
            </a:extLst>
          </p:cNvPr>
          <p:cNvGrpSpPr/>
          <p:nvPr/>
        </p:nvGrpSpPr>
        <p:grpSpPr>
          <a:xfrm>
            <a:off x="4399005" y="247135"/>
            <a:ext cx="3385752" cy="1845273"/>
            <a:chOff x="4399005" y="247135"/>
            <a:chExt cx="3385752" cy="1845273"/>
          </a:xfrm>
        </p:grpSpPr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438AE251-0EAD-82E2-0F39-C76B57E15487}"/>
                </a:ext>
              </a:extLst>
            </p:cNvPr>
            <p:cNvSpPr/>
            <p:nvPr/>
          </p:nvSpPr>
          <p:spPr>
            <a:xfrm>
              <a:off x="4399005" y="247135"/>
              <a:ext cx="3385752" cy="184527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400" dirty="0"/>
                <a:t>Privacy Classifier</a:t>
              </a: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ECA597C-57E5-26D3-4F9B-B976EC781F32}"/>
                </a:ext>
              </a:extLst>
            </p:cNvPr>
            <p:cNvGrpSpPr/>
            <p:nvPr/>
          </p:nvGrpSpPr>
          <p:grpSpPr>
            <a:xfrm>
              <a:off x="5624049" y="711710"/>
              <a:ext cx="935665" cy="1315565"/>
              <a:chOff x="1729516" y="1778510"/>
              <a:chExt cx="935665" cy="1315565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815763C5-DFE4-F8E5-1BD3-20A5F9E03DF3}"/>
                  </a:ext>
                </a:extLst>
              </p:cNvPr>
              <p:cNvSpPr/>
              <p:nvPr/>
            </p:nvSpPr>
            <p:spPr>
              <a:xfrm>
                <a:off x="1729516" y="2838893"/>
                <a:ext cx="935665" cy="25518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Dense</a:t>
                </a: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D715A9B8-3568-17A5-B29C-280CFA7ABB08}"/>
                  </a:ext>
                </a:extLst>
              </p:cNvPr>
              <p:cNvSpPr/>
              <p:nvPr/>
            </p:nvSpPr>
            <p:spPr>
              <a:xfrm>
                <a:off x="1729516" y="2573798"/>
                <a:ext cx="935665" cy="25518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ReLU</a:t>
                </a: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33D19015-C49B-03B8-4B47-84E27D323371}"/>
                  </a:ext>
                </a:extLst>
              </p:cNvPr>
              <p:cNvSpPr/>
              <p:nvPr/>
            </p:nvSpPr>
            <p:spPr>
              <a:xfrm>
                <a:off x="1729516" y="2308702"/>
                <a:ext cx="935665" cy="25518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Dense</a:t>
                </a: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06EDD26F-BC4B-FFB0-E665-355ADA207193}"/>
                  </a:ext>
                </a:extLst>
              </p:cNvPr>
              <p:cNvSpPr/>
              <p:nvPr/>
            </p:nvSpPr>
            <p:spPr>
              <a:xfrm>
                <a:off x="1729516" y="1778510"/>
                <a:ext cx="935665" cy="25518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/>
                  <a:t>XEntropy</a:t>
                </a:r>
                <a:endParaRPr lang="en-US" sz="1200" dirty="0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C8574062-AD15-F466-2CB4-7C6BEF2E8158}"/>
                  </a:ext>
                </a:extLst>
              </p:cNvPr>
              <p:cNvSpPr/>
              <p:nvPr/>
            </p:nvSpPr>
            <p:spPr>
              <a:xfrm>
                <a:off x="1729516" y="2043606"/>
                <a:ext cx="935665" cy="25518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Dense</a:t>
                </a:r>
              </a:p>
            </p:txBody>
          </p:sp>
        </p:grpSp>
      </p:grpSp>
      <p:sp>
        <p:nvSpPr>
          <p:cNvPr id="55" name="Up Arrow 54">
            <a:extLst>
              <a:ext uri="{FF2B5EF4-FFF2-40B4-BE49-F238E27FC236}">
                <a16:creationId xmlns:a16="http://schemas.microsoft.com/office/drawing/2014/main" id="{DA5EB90D-5785-93B5-3C72-09E68109E680}"/>
              </a:ext>
            </a:extLst>
          </p:cNvPr>
          <p:cNvSpPr/>
          <p:nvPr/>
        </p:nvSpPr>
        <p:spPr>
          <a:xfrm>
            <a:off x="5892113" y="6388444"/>
            <a:ext cx="407773" cy="32127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634F4514-84E4-0512-883D-0E856DA0B771}"/>
              </a:ext>
            </a:extLst>
          </p:cNvPr>
          <p:cNvCxnSpPr>
            <a:cxnSpLocks/>
            <a:stCxn id="4" idx="0"/>
            <a:endCxn id="5" idx="1"/>
          </p:cNvCxnSpPr>
          <p:nvPr/>
        </p:nvCxnSpPr>
        <p:spPr>
          <a:xfrm rot="5400000" flipH="1" flipV="1">
            <a:off x="3440146" y="2577236"/>
            <a:ext cx="522361" cy="1354167"/>
          </a:xfrm>
          <a:prstGeom prst="bentConnector2">
            <a:avLst/>
          </a:prstGeom>
          <a:ln w="508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9FCE2068-7A5D-5110-DC35-10F37BE192A7}"/>
              </a:ext>
            </a:extLst>
          </p:cNvPr>
          <p:cNvCxnSpPr>
            <a:cxnSpLocks/>
            <a:stCxn id="35" idx="0"/>
            <a:endCxn id="5" idx="3"/>
          </p:cNvCxnSpPr>
          <p:nvPr/>
        </p:nvCxnSpPr>
        <p:spPr>
          <a:xfrm rot="16200000" flipV="1">
            <a:off x="8279877" y="2526851"/>
            <a:ext cx="534717" cy="1467292"/>
          </a:xfrm>
          <a:prstGeom prst="bentConnector2">
            <a:avLst/>
          </a:prstGeom>
          <a:ln w="508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9DE7FAC4-A98D-EB34-8049-ABC115D8BC00}"/>
              </a:ext>
            </a:extLst>
          </p:cNvPr>
          <p:cNvCxnSpPr>
            <a:cxnSpLocks/>
            <a:stCxn id="2" idx="0"/>
            <a:endCxn id="4" idx="3"/>
          </p:cNvCxnSpPr>
          <p:nvPr/>
        </p:nvCxnSpPr>
        <p:spPr>
          <a:xfrm rot="16200000" flipV="1">
            <a:off x="4724628" y="4217999"/>
            <a:ext cx="1232584" cy="1922052"/>
          </a:xfrm>
          <a:prstGeom prst="bentConnector2">
            <a:avLst/>
          </a:prstGeom>
          <a:ln w="508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37A61B4A-9710-4CFA-5CFD-1329DF3956B1}"/>
              </a:ext>
            </a:extLst>
          </p:cNvPr>
          <p:cNvCxnSpPr>
            <a:cxnSpLocks/>
            <a:stCxn id="2" idx="0"/>
            <a:endCxn id="35" idx="1"/>
          </p:cNvCxnSpPr>
          <p:nvPr/>
        </p:nvCxnSpPr>
        <p:spPr>
          <a:xfrm rot="5400000" flipH="1" flipV="1">
            <a:off x="6503474" y="4373561"/>
            <a:ext cx="1220228" cy="1623284"/>
          </a:xfrm>
          <a:prstGeom prst="bentConnector2">
            <a:avLst/>
          </a:prstGeom>
          <a:ln w="508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276C1546-F7C3-53B3-DD71-2D8F55237CC9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6301946" y="3429000"/>
            <a:ext cx="0" cy="2366317"/>
          </a:xfrm>
          <a:prstGeom prst="straightConnector1">
            <a:avLst/>
          </a:prstGeom>
          <a:ln w="508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14B57B85-6EAF-F7A4-36D5-98131A76E48B}"/>
              </a:ext>
            </a:extLst>
          </p:cNvPr>
          <p:cNvCxnSpPr>
            <a:cxnSpLocks/>
          </p:cNvCxnSpPr>
          <p:nvPr/>
        </p:nvCxnSpPr>
        <p:spPr>
          <a:xfrm flipH="1" flipV="1">
            <a:off x="6376086" y="2067694"/>
            <a:ext cx="4119" cy="354230"/>
          </a:xfrm>
          <a:prstGeom prst="straightConnector1">
            <a:avLst/>
          </a:prstGeom>
          <a:ln w="508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364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48AF4356-C2F7-61A4-660A-90DFABC50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610" y="2524039"/>
            <a:ext cx="7772400" cy="1420394"/>
          </a:xfrm>
          <a:prstGeom prst="rect">
            <a:avLst/>
          </a:prstGeom>
        </p:spPr>
      </p:pic>
      <p:pic>
        <p:nvPicPr>
          <p:cNvPr id="5" name="Picture 4" descr="A mathematical equation with black text&#10;&#10;AI-generated content may be incorrect.">
            <a:extLst>
              <a:ext uri="{FF2B5EF4-FFF2-40B4-BE49-F238E27FC236}">
                <a16:creationId xmlns:a16="http://schemas.microsoft.com/office/drawing/2014/main" id="{44E06A03-7021-3D56-9E8D-79B6CD4BE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9292" y="3870925"/>
            <a:ext cx="7772400" cy="1420394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735078B-E733-A414-CE05-01ACB3C62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Attention</a:t>
            </a:r>
          </a:p>
        </p:txBody>
      </p:sp>
    </p:spTree>
    <p:extLst>
      <p:ext uri="{BB962C8B-B14F-4D97-AF65-F5344CB8AC3E}">
        <p14:creationId xmlns:p14="http://schemas.microsoft.com/office/powerpoint/2010/main" val="1038922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E311C-50D5-AAE6-A470-30CB8C4D3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DDCAF-F367-3ED9-624C-CB905E4CD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794D7-AFF7-C928-66E2-90F44CFD5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Leveraging Named Entity Recognition (NER) for detecting sensitive entities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Employing Cross Attention Mechanism to link Personal entities to PII entities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Final classification to determine presence or absence of privacy violations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942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A3717-E326-8675-CB66-9FD419BD7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E80F4-C228-1930-FE7F-F71A998110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Foundational Model for text embeddings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Separate NER heads for Personal and PII entities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Cross Attention linking Personal NER (queries) and PII NER (keys, values)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Final classifier layer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D7E7B7-5428-5BA1-2EE9-F9D4539B98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871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C9FBE-6EE0-A6B3-5E02-E7E36BCC1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NER Attend to PII (Tutorial)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5756D-D27E-3FB0-F5B2-B4EF470A9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Text with NER Embeddings</a:t>
            </a:r>
          </a:p>
          <a:p>
            <a:r>
              <a:rPr lang="en-US" dirty="0"/>
              <a:t>NER Classifier</a:t>
            </a:r>
          </a:p>
          <a:p>
            <a:r>
              <a:rPr lang="en-US" dirty="0"/>
              <a:t>PII Classifier</a:t>
            </a:r>
          </a:p>
          <a:p>
            <a:r>
              <a:rPr lang="en-US" dirty="0"/>
              <a:t>Cross Attention</a:t>
            </a:r>
          </a:p>
          <a:p>
            <a:r>
              <a:rPr lang="en-US" dirty="0"/>
              <a:t>Privacy Classifier</a:t>
            </a:r>
          </a:p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348950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70010-4DD1-88AD-0D6C-2CD029231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(Loss computation)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0C41B-4998-BE2A-9CCA-1D24806AD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63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53AE8-4A97-2DAA-2B44-C59ADACC0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3FBD9-7104-5A62-FD28-CB094BB0B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3EC7B-9ABD-AB42-9133-E38390748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Wikipedia Privacy Dataset (Failed)</a:t>
            </a:r>
          </a:p>
          <a:p>
            <a:pPr>
              <a:buFont typeface="+mj-lt"/>
              <a:buAutoNum type="arabicPeriod"/>
            </a:pPr>
            <a:r>
              <a:rPr lang="en-US" dirty="0" err="1"/>
              <a:t>Bigcode</a:t>
            </a:r>
            <a:r>
              <a:rPr lang="en-US" dirty="0"/>
              <a:t>/</a:t>
            </a:r>
            <a:r>
              <a:rPr lang="en-US" dirty="0" err="1"/>
              <a:t>pii-bigcode</a:t>
            </a:r>
            <a:r>
              <a:rPr lang="en-US" dirty="0"/>
              <a:t> Dataset (Failed: Annotation inconsistency)</a:t>
            </a:r>
          </a:p>
          <a:p>
            <a:pPr>
              <a:buFont typeface="+mj-lt"/>
              <a:buAutoNum type="arabicPeriod"/>
            </a:pPr>
            <a:r>
              <a:rPr lang="en-US" dirty="0"/>
              <a:t>ONTO Dataset (Failed: Costly)</a:t>
            </a:r>
          </a:p>
          <a:p>
            <a:pPr>
              <a:buFont typeface="+mj-lt"/>
              <a:buAutoNum type="arabicPeriod"/>
            </a:pPr>
            <a:r>
              <a:rPr lang="en-US" dirty="0"/>
              <a:t>Synthetic Dataset v1 (Partial success)</a:t>
            </a:r>
          </a:p>
          <a:p>
            <a:pPr>
              <a:buFont typeface="+mj-lt"/>
              <a:buAutoNum type="arabicPeriod"/>
            </a:pPr>
            <a:r>
              <a:rPr lang="en-US" dirty="0"/>
              <a:t>Synthetic Dataset v2 (Successful)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904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0971F-DE9E-130A-38F9-73FC42243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CAB4E-1677-C0A3-3BDB-2E1E18507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Ablation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93E17-00D3-1DB2-7A3C-67250108E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Ablation </a:t>
            </a:r>
          </a:p>
          <a:p>
            <a:pPr lvl="1"/>
            <a:r>
              <a:rPr lang="en-US" dirty="0"/>
              <a:t>Conditional Random Field Classifier</a:t>
            </a:r>
          </a:p>
          <a:p>
            <a:pPr lvl="1"/>
            <a:r>
              <a:rPr lang="en-US" dirty="0"/>
              <a:t>Plain Binary Classifier</a:t>
            </a:r>
          </a:p>
          <a:p>
            <a:r>
              <a:rPr lang="en-US" dirty="0"/>
              <a:t>Feed Forward Networks</a:t>
            </a:r>
          </a:p>
          <a:p>
            <a:pPr lvl="1"/>
            <a:r>
              <a:rPr lang="en-US" dirty="0"/>
              <a:t>Expansion Factor 1.0</a:t>
            </a:r>
          </a:p>
          <a:p>
            <a:pPr lvl="1"/>
            <a:r>
              <a:rPr lang="en-US" dirty="0"/>
              <a:t>Expansion Factor 2.0</a:t>
            </a:r>
          </a:p>
          <a:p>
            <a:r>
              <a:rPr lang="en-US" dirty="0"/>
              <a:t>BIO Tag Variation</a:t>
            </a:r>
          </a:p>
          <a:p>
            <a:pPr lvl="1"/>
            <a:r>
              <a:rPr lang="en-US" dirty="0"/>
              <a:t>With Plain NER Tags</a:t>
            </a:r>
          </a:p>
          <a:p>
            <a:pPr lvl="1"/>
            <a:r>
              <a:rPr lang="en-US" dirty="0"/>
              <a:t>With Co-Reference Tags</a:t>
            </a:r>
          </a:p>
        </p:txBody>
      </p:sp>
    </p:spTree>
    <p:extLst>
      <p:ext uri="{BB962C8B-B14F-4D97-AF65-F5344CB8AC3E}">
        <p14:creationId xmlns:p14="http://schemas.microsoft.com/office/powerpoint/2010/main" val="3977247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A4F53-B7A0-318C-0231-C9D1C95D9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 Studies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AD29C-6C44-A446-8436-F2AA70BDA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987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DEBE8-6ED1-86C6-716B-D084790D8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9D6ED-B955-0E31-600A-44B07517D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0310C-C331-C072-FCC8-D8347EE92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74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3DD94-6247-8AAA-999B-0DA402809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9FB7C-B679-F060-1F70-6F9C38DDE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9A41D-F1F3-D215-6ACD-772ED98E1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899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4125</TotalTime>
  <Words>255</Words>
  <Application>Microsoft Macintosh PowerPoint</Application>
  <PresentationFormat>Widescreen</PresentationFormat>
  <Paragraphs>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Attention to Privacy</vt:lpstr>
      <vt:lpstr>Introduction</vt:lpstr>
      <vt:lpstr>PowerPoint Presentation</vt:lpstr>
      <vt:lpstr>Cross Attention</vt:lpstr>
      <vt:lpstr>Approach</vt:lpstr>
      <vt:lpstr>Model Architecture</vt:lpstr>
      <vt:lpstr>NER Attend to PII (Tutorial)</vt:lpstr>
      <vt:lpstr>Training (Loss computation)</vt:lpstr>
      <vt:lpstr>Datasets</vt:lpstr>
      <vt:lpstr>Ablation Study</vt:lpstr>
      <vt:lpstr>Benchmark Studies</vt:lpstr>
      <vt:lpstr>Results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Pals Chinnakannan</dc:creator>
  <cp:lastModifiedBy>Pals Chinnakannan</cp:lastModifiedBy>
  <cp:revision>3</cp:revision>
  <dcterms:created xsi:type="dcterms:W3CDTF">2025-04-06T21:18:25Z</dcterms:created>
  <dcterms:modified xsi:type="dcterms:W3CDTF">2025-04-13T17:19:44Z</dcterms:modified>
</cp:coreProperties>
</file>